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623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C1A2D">
              <a:alpha val="95000"/>
            </a:srgbClr>
          </a:solidFill>
          <a:ln w="12700">
            <a:solidFill>
              <a:srgbClr val="0C1A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2744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5156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65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 Invaders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21792" y="18288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F7FF"/>
                </a:solidFill>
              </a:rPr>
              <a:t>Java Class 簡介簡報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58368" y="3246120"/>
            <a:ext cx="914400" cy="256032"/>
          </a:xfrm>
          <a:prstGeom prst="roundRect">
            <a:avLst>
              <a:gd name="adj" fmla="val 35714"/>
            </a:avLst>
          </a:prstGeom>
          <a:solidFill>
            <a:srgbClr val="25D6FF">
              <a:alpha val="90000"/>
            </a:srgbClr>
          </a:solidFill>
          <a:ln w="12700">
            <a:solidFill>
              <a:srgbClr val="25D6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3009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11F"/>
                </a:solidFill>
              </a:rPr>
              <a:t>Swing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91640" y="3246120"/>
            <a:ext cx="1143000" cy="256032"/>
          </a:xfrm>
          <a:prstGeom prst="roundRect">
            <a:avLst>
              <a:gd name="adj" fmla="val 35714"/>
            </a:avLst>
          </a:prstGeom>
          <a:solidFill>
            <a:srgbClr val="65FF9D">
              <a:alpha val="90000"/>
            </a:srgbClr>
          </a:solidFill>
          <a:ln w="12700">
            <a:solidFill>
              <a:srgbClr val="65FF9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46504" y="3300984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11F"/>
                </a:solidFill>
              </a:rPr>
              <a:t>2D Game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71800" y="3246120"/>
            <a:ext cx="777240" cy="256032"/>
          </a:xfrm>
          <a:prstGeom prst="roundRect">
            <a:avLst>
              <a:gd name="adj" fmla="val 35714"/>
            </a:avLst>
          </a:prstGeom>
          <a:solidFill>
            <a:srgbClr val="FFD166">
              <a:alpha val="90000"/>
            </a:srgbClr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26664" y="3300984"/>
            <a:ext cx="667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11F"/>
                </a:solidFill>
              </a:rPr>
              <a:t>OOP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86200" y="3246120"/>
            <a:ext cx="960120" cy="256032"/>
          </a:xfrm>
          <a:prstGeom prst="roundRect">
            <a:avLst>
              <a:gd name="adj" fmla="val 35714"/>
            </a:avLst>
          </a:prstGeom>
          <a:solidFill>
            <a:srgbClr val="FF5E9C">
              <a:alpha val="90000"/>
            </a:srgbClr>
          </a:solidFill>
          <a:ln w="12700">
            <a:solidFill>
              <a:srgbClr val="FF5E9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1064" y="3300984"/>
            <a:ext cx="850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8111F"/>
                </a:solidFill>
              </a:rPr>
              <a:t>Arcade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26680" y="1005840"/>
            <a:ext cx="3611880" cy="4480560"/>
          </a:xfrm>
          <a:prstGeom prst="roundRect">
            <a:avLst>
              <a:gd name="adj" fmla="val 3038"/>
            </a:avLst>
          </a:prstGeom>
          <a:solidFill>
            <a:srgbClr val="0D182B"/>
          </a:solidFill>
          <a:ln w="12700">
            <a:solidFill>
              <a:srgbClr val="2744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8432" y="1417320"/>
            <a:ext cx="306324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GamePanel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updateGame();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entityManager.update();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gameRenderer.paint();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Alien + Bullet + Player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 + UI + Sound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 save/load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55480" y="65196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39C"/>
                </a:solidFill>
              </a:rPr>
              <a:t>Space Invaders Java Classes｜1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C1A2D">
              <a:alpha val="95000"/>
            </a:srgbClr>
          </a:solidFill>
          <a:ln w="12700">
            <a:solidFill>
              <a:srgbClr val="0C1A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2744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整體架構：14 個 Class 怎麼分工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868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B1C9"/>
                </a:solidFill>
              </a:rPr>
              <a:t>這份遊戲可以分成四層：啟動與視窗、遊戲流程、遊戲物件、輔助系統。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1444752"/>
            <a:ext cx="2514600" cy="4297680"/>
          </a:xfrm>
          <a:prstGeom prst="roundRect">
            <a:avLst>
              <a:gd name="adj" fmla="val 5455"/>
            </a:avLst>
          </a:prstGeom>
          <a:solidFill>
            <a:srgbClr val="101D31"/>
          </a:solidFill>
          <a:ln w="15240">
            <a:solidFill>
              <a:srgbClr val="65FF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5FF9D"/>
                </a:solidFill>
              </a:rPr>
              <a:t>啟動與視窗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14884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65FF9D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2402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SpaceInvadersGame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724912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65FF9D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8163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GameFrame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3300984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65FF9D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39242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MenuPanel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1444752"/>
            <a:ext cx="2514600" cy="4297680"/>
          </a:xfrm>
          <a:prstGeom prst="roundRect">
            <a:avLst>
              <a:gd name="adj" fmla="val 5455"/>
            </a:avLst>
          </a:prstGeom>
          <a:solidFill>
            <a:srgbClr val="101D31"/>
          </a:solidFill>
          <a:ln w="15240">
            <a:solidFill>
              <a:srgbClr val="25D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D6FF"/>
                </a:solidFill>
              </a:rPr>
              <a:t>遊戲流程核心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703320" y="214884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25D6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67328" y="22402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GamePanel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03320" y="2724912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25D6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7328" y="28163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EntityManager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55080" y="1444752"/>
            <a:ext cx="2514600" cy="4297680"/>
          </a:xfrm>
          <a:prstGeom prst="roundRect">
            <a:avLst>
              <a:gd name="adj" fmla="val 5455"/>
            </a:avLst>
          </a:prstGeom>
          <a:solidFill>
            <a:srgbClr val="101D31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D166"/>
                </a:solidFill>
              </a:rPr>
              <a:t>遊戲物件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83680" y="214884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47688" y="22402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83680" y="2724912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28163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Alien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0" y="3300984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7688" y="339242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83680" y="3877056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47688" y="396849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PowerUp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83680" y="4453128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47688" y="4544568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Shooter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235440" y="1444752"/>
            <a:ext cx="2514600" cy="4297680"/>
          </a:xfrm>
          <a:prstGeom prst="roundRect">
            <a:avLst>
              <a:gd name="adj" fmla="val 5455"/>
            </a:avLst>
          </a:prstGeom>
          <a:solidFill>
            <a:srgbClr val="101D31"/>
          </a:solidFill>
          <a:ln w="15240">
            <a:solidFill>
              <a:srgbClr val="FF5E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90888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5E9C"/>
                </a:solidFill>
              </a:rPr>
              <a:t>畫面 / 音效 / 紀錄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464040" y="2148840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FF5E9C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28048" y="2240280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GameRenderer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464040" y="2724912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FF5E9C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28048" y="2816352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GameUI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464040" y="3300984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FF5E9C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28048" y="339242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SoundPlayer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464040" y="3877056"/>
            <a:ext cx="2057400" cy="347472"/>
          </a:xfrm>
          <a:prstGeom prst="roundRect">
            <a:avLst>
              <a:gd name="adj" fmla="val 21053"/>
            </a:avLst>
          </a:prstGeom>
          <a:solidFill>
            <a:srgbClr val="0B1628"/>
          </a:solidFill>
          <a:ln w="12700">
            <a:solidFill>
              <a:srgbClr val="FF5E9C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28048" y="3968496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2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555480" y="65196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39C"/>
                </a:solidFill>
              </a:rPr>
              <a:t>Space Invaders Java Classes｜2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C1A2D">
              <a:alpha val="95000"/>
            </a:srgbClr>
          </a:solidFill>
          <a:ln w="12700">
            <a:solidFill>
              <a:srgbClr val="0C1A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2744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程式啟動到進入遊戲的流程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0" y="228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BB1C9"/>
                </a:solidFill>
              </a:rPr>
              <a:t>主流程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40280" y="1828800"/>
            <a:ext cx="758952" cy="0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0" y="1828800"/>
            <a:ext cx="758952" cy="0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931152" y="1828800"/>
            <a:ext cx="768096" cy="0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321040" y="2212848"/>
            <a:ext cx="0" cy="758952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99248" y="3703320"/>
            <a:ext cx="0" cy="0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" y="141732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13233C"/>
          </a:solidFill>
          <a:ln w="12700">
            <a:solidFill>
              <a:srgbClr val="65FF9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5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SpaceInvadersGame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18196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main() 入口；用 SwingUtilities.invokeLater 建立視窗。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99232" y="1417320"/>
            <a:ext cx="1572768" cy="822960"/>
          </a:xfrm>
          <a:prstGeom prst="roundRect">
            <a:avLst>
              <a:gd name="adj" fmla="val 11111"/>
            </a:avLst>
          </a:prstGeom>
          <a:solidFill>
            <a:srgbClr val="13233C"/>
          </a:solidFill>
          <a:ln w="12700">
            <a:solidFill>
              <a:srgbClr val="25D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152704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GameFrame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136392" y="181965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JFrame 主視窗；切換 MenuPanel 與 GamePanel。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30952" y="1417320"/>
            <a:ext cx="1600200" cy="822960"/>
          </a:xfrm>
          <a:prstGeom prst="roundRect">
            <a:avLst>
              <a:gd name="adj" fmla="val 11111"/>
            </a:avLst>
          </a:prstGeom>
          <a:solidFill>
            <a:srgbClr val="13233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8112" y="15270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MenuPanel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68112" y="181965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主選單、模式、雙人、難度、排行榜等選擇畫面。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699248" y="1417320"/>
            <a:ext cx="1783080" cy="822960"/>
          </a:xfrm>
          <a:prstGeom prst="roundRect">
            <a:avLst>
              <a:gd name="adj" fmla="val 11111"/>
            </a:avLst>
          </a:prstGeom>
          <a:solidFill>
            <a:srgbClr val="13233C"/>
          </a:solidFill>
          <a:ln w="12700">
            <a:solidFill>
              <a:srgbClr val="FF5E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36408" y="15270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5E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GamePanel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836408" y="1819656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真正進入遊戲；Timer 每 16ms 呼叫更新與重畫。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0" y="2971800"/>
            <a:ext cx="2011680" cy="868680"/>
          </a:xfrm>
          <a:prstGeom prst="roundRect">
            <a:avLst>
              <a:gd name="adj" fmla="val 10526"/>
            </a:avLst>
          </a:prstGeom>
          <a:solidFill>
            <a:srgbClr val="13233C"/>
          </a:solidFill>
          <a:ln w="12700">
            <a:solidFill>
              <a:srgbClr val="25D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30815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EntityManager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52360" y="337413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管理敵人、敵方子彈、道具、碰撞與生成。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89120" y="3291840"/>
            <a:ext cx="2331720" cy="822960"/>
          </a:xfrm>
          <a:prstGeom prst="roundRect">
            <a:avLst>
              <a:gd name="adj" fmla="val 11111"/>
            </a:avLst>
          </a:prstGeom>
          <a:solidFill>
            <a:srgbClr val="13233C"/>
          </a:solidFill>
          <a:ln w="12700">
            <a:solidFill>
              <a:srgbClr val="65FF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4015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5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GameRenderer + GameUI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26280" y="369417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負責把玩家、子彈、敵人與 HUD 畫到畫面上。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7240" y="50749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F7FF"/>
                </a:solidFill>
              </a:rPr>
              <a:t>理解重點：GameFrame 負責「換畫面」，GamePanel 負責「跑遊戲」，EntityManager 負責「管物件」。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555480" y="65196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39C"/>
                </a:solidFill>
              </a:rPr>
              <a:t>Space Invaders Java Classes｜3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C1A2D">
              <a:alpha val="95000"/>
            </a:srgbClr>
          </a:solidFill>
          <a:ln w="12700">
            <a:solidFill>
              <a:srgbClr val="0C1A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2744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視窗與選單相關 Class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0" y="228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BB1C9"/>
                </a:solidFill>
              </a:rPr>
              <a:t>進入遊戲前的外層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743200" cy="4343400"/>
          </a:xfrm>
          <a:prstGeom prst="roundRect">
            <a:avLst>
              <a:gd name="adj" fmla="val 3333"/>
            </a:avLst>
          </a:prstGeom>
          <a:solidFill>
            <a:srgbClr val="101D31"/>
          </a:solidFill>
          <a:ln w="15240">
            <a:solidFill>
              <a:srgbClr val="65FF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271016"/>
            <a:ext cx="24140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5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GameFrame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1636776"/>
            <a:ext cx="24140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主視窗 JFrame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2075688"/>
            <a:ext cx="2395728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建立 Leaderboard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切換選單與遊戲畫面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回到主選單或難度選單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56432" y="1143000"/>
            <a:ext cx="2743200" cy="4343400"/>
          </a:xfrm>
          <a:prstGeom prst="roundRect">
            <a:avLst>
              <a:gd name="adj" fmla="val 3333"/>
            </a:avLst>
          </a:prstGeom>
          <a:solidFill>
            <a:srgbClr val="101D31"/>
          </a:solidFill>
          <a:ln w="15240">
            <a:solidFill>
              <a:srgbClr val="25D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1271016"/>
            <a:ext cx="24140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MenuPanel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21024" y="1636776"/>
            <a:ext cx="24140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主選單與設定畫面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075688"/>
            <a:ext cx="2395728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顯示 Start / Leaderboard / Controls / About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選擇模式、玩家數、難度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鍵盤上下選擇、Enter 確認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1143000"/>
            <a:ext cx="2743200" cy="4343400"/>
          </a:xfrm>
          <a:prstGeom prst="roundRect">
            <a:avLst>
              <a:gd name="adj" fmla="val 3333"/>
            </a:avLst>
          </a:prstGeom>
          <a:solidFill>
            <a:srgbClr val="101D31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271016"/>
            <a:ext cx="24140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GamePanel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5392" y="1636776"/>
            <a:ext cx="24140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遊戲本體 JPanel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01968" y="2075688"/>
            <a:ext cx="2395728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Timer 驅動 updateGame()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保存分數、生命、關卡、模式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處理鍵盤、暫停、勝敗判定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45168" y="1143000"/>
            <a:ext cx="2331720" cy="4343400"/>
          </a:xfrm>
          <a:prstGeom prst="roundRect">
            <a:avLst>
              <a:gd name="adj" fmla="val 3922"/>
            </a:avLst>
          </a:prstGeom>
          <a:solidFill>
            <a:srgbClr val="101D31"/>
          </a:solidFill>
          <a:ln w="15240">
            <a:solidFill>
              <a:srgbClr val="FF5E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1271016"/>
            <a:ext cx="200253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5E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SpaceInvadersGame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09760" y="1636776"/>
            <a:ext cx="20025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程式進入點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46336" y="2075688"/>
            <a:ext cx="1984248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main() 啟動整個程式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在 Swing EDT 建立 GameFrame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讓遊戲視窗顯示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55480" y="65196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39C"/>
                </a:solidFill>
              </a:rPr>
              <a:t>Space Invaders Java Classes｜4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C1A2D">
              <a:alpha val="95000"/>
            </a:srgbClr>
          </a:solidFill>
          <a:ln w="12700">
            <a:solidFill>
              <a:srgbClr val="0C1A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2744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GamePanel：遊戲流程總控制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0" y="228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BB1C9"/>
                </a:solidFill>
              </a:rPr>
              <a:t>每一幀發生什麼事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BB1C9"/>
                </a:solidFill>
              </a:rPr>
              <a:t>GamePanel 是整個遊戲的中樞：它不直接管理所有物件細節，而是負責呼叫各個系統一起運作。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0" y="1920240"/>
            <a:ext cx="1645920" cy="0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57800" y="1920240"/>
            <a:ext cx="1645920" cy="0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03920" y="1920240"/>
            <a:ext cx="1417320" cy="0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9921240" y="2331719"/>
            <a:ext cx="548640" cy="1920239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921240" y="4206240"/>
            <a:ext cx="0" cy="0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29400" y="4206240"/>
            <a:ext cx="0" cy="0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1508760"/>
            <a:ext cx="1325880" cy="822960"/>
          </a:xfrm>
          <a:prstGeom prst="roundRect">
            <a:avLst>
              <a:gd name="adj" fmla="val 11111"/>
            </a:avLst>
          </a:prstGeom>
          <a:solidFill>
            <a:srgbClr val="13233C"/>
          </a:solidFill>
          <a:ln w="12700">
            <a:solidFill>
              <a:srgbClr val="65FF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1848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5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191109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約 16ms 觸發一次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0" y="1508760"/>
            <a:ext cx="1600200" cy="822960"/>
          </a:xfrm>
          <a:prstGeom prst="roundRect">
            <a:avLst>
              <a:gd name="adj" fmla="val 11111"/>
            </a:avLst>
          </a:prstGeom>
          <a:solidFill>
            <a:srgbClr val="13233C"/>
          </a:solidFill>
          <a:ln w="12700">
            <a:solidFill>
              <a:srgbClr val="25D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618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updateGame()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794760" y="19110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更新玩家、敵人、道具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03720" y="1508760"/>
            <a:ext cx="1600200" cy="822960"/>
          </a:xfrm>
          <a:prstGeom prst="roundRect">
            <a:avLst>
              <a:gd name="adj" fmla="val 11111"/>
            </a:avLst>
          </a:prstGeom>
          <a:solidFill>
            <a:srgbClr val="13233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61848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EntityManager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040880" y="19110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物件移動與碰撞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72600" y="15087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3233C"/>
          </a:solidFill>
          <a:ln w="12700">
            <a:solidFill>
              <a:srgbClr val="FF5E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1618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5E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checkGameState()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509760" y="191109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判斷過關、失敗、下一關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83880" y="379476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3233C"/>
          </a:solidFill>
          <a:ln w="12700">
            <a:solidFill>
              <a:srgbClr val="65FF9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904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5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repaint()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21040" y="41970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呼叫 paintComponent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937760" y="379476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3233C"/>
          </a:solidFill>
          <a:ln w="12700">
            <a:solidFill>
              <a:srgbClr val="25D6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904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GameRenderer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74920" y="41970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畫出遊戲畫面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194560" y="3794760"/>
            <a:ext cx="1874520" cy="822960"/>
          </a:xfrm>
          <a:prstGeom prst="roundRect">
            <a:avLst>
              <a:gd name="adj" fmla="val 11111"/>
            </a:avLst>
          </a:prstGeom>
          <a:solidFill>
            <a:srgbClr val="13233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39044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GameUI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331720" y="419709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畫 HUD、暫停、結束畫面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60120" y="553212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F7FF"/>
                </a:solidFill>
              </a:rPr>
              <a:t>它也定義三種模式：Classic、Dodging、Stage，並依難度與關卡調整 alien speed。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555480" y="65196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39C"/>
                </a:solidFill>
              </a:rPr>
              <a:t>Space Invaders Java Classes｜5</a:t>
            </a:r>
            <a:endParaRPr lang="en-US" sz="950" dirty="0"/>
          </a:p>
        </p:txBody>
      </p:sp>
      <p:sp>
        <p:nvSpPr>
          <p:cNvPr id="37" name="Shape 9">
            <a:extLst>
              <a:ext uri="{FF2B5EF4-FFF2-40B4-BE49-F238E27FC236}">
                <a16:creationId xmlns:a16="http://schemas.microsoft.com/office/drawing/2014/main" id="{0B43F231-580A-443E-4BA7-9094FF479926}"/>
              </a:ext>
            </a:extLst>
          </p:cNvPr>
          <p:cNvSpPr/>
          <p:nvPr/>
        </p:nvSpPr>
        <p:spPr>
          <a:xfrm flipH="1">
            <a:off x="6583680" y="4197096"/>
            <a:ext cx="1600200" cy="9144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38" name="Shape 9">
            <a:extLst>
              <a:ext uri="{FF2B5EF4-FFF2-40B4-BE49-F238E27FC236}">
                <a16:creationId xmlns:a16="http://schemas.microsoft.com/office/drawing/2014/main" id="{776D5A88-55E4-8086-C1DE-E8D96ACED15D}"/>
              </a:ext>
            </a:extLst>
          </p:cNvPr>
          <p:cNvSpPr/>
          <p:nvPr/>
        </p:nvSpPr>
        <p:spPr>
          <a:xfrm flipH="1">
            <a:off x="4069080" y="4251958"/>
            <a:ext cx="868680" cy="36576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C1A2D">
              <a:alpha val="95000"/>
            </a:srgbClr>
          </a:solidFill>
          <a:ln w="12700">
            <a:solidFill>
              <a:srgbClr val="0C1A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2744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EntityManager：所有遊戲物件的管理者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0" y="228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BB1C9"/>
                </a:solidFill>
              </a:rPr>
              <a:t>最核心的管理 class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005840"/>
            <a:ext cx="4754880" cy="4983480"/>
          </a:xfrm>
          <a:prstGeom prst="roundRect">
            <a:avLst>
              <a:gd name="adj" fmla="val 1923"/>
            </a:avLst>
          </a:prstGeom>
          <a:solidFill>
            <a:srgbClr val="101D31"/>
          </a:solidFill>
          <a:ln w="15240">
            <a:solidFill>
              <a:srgbClr val="25D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133856"/>
            <a:ext cx="442569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EntityManager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499616"/>
            <a:ext cx="442569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集中管理敵人、敵方子彈、道具與碰撞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1938528"/>
            <a:ext cx="4407408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update() 會依序更新生成、敵人、子彈、道具、射擊與碰撞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initAliens() 依模式建立 Classic / Dodging / Stage 敵人波次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updateBossShooting() 管理 Boss 普通攻擊與扇形彈幕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checkCollisions() 處理玩家子彈、敵人子彈、敵人撞玩家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635240" y="1965960"/>
            <a:ext cx="0" cy="640080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60920" y="3291840"/>
            <a:ext cx="0" cy="438912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35240" y="3291840"/>
            <a:ext cx="0" cy="438912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09560" y="3291840"/>
            <a:ext cx="1033272" cy="438912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29400" y="123444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13233C"/>
          </a:solidFill>
          <a:ln w="12700">
            <a:solidFill>
              <a:srgbClr val="65FF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3441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5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GamePanel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6656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每幀呼叫 update()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46520" y="260604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13233C"/>
          </a:solidFill>
          <a:ln w="12700">
            <a:solidFill>
              <a:srgbClr val="25D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7157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EntityManager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0" y="300837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統一更新與判定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40680" y="3730752"/>
            <a:ext cx="1143000" cy="685800"/>
          </a:xfrm>
          <a:prstGeom prst="roundRect">
            <a:avLst>
              <a:gd name="adj" fmla="val 13333"/>
            </a:avLst>
          </a:prstGeom>
          <a:solidFill>
            <a:srgbClr val="13233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38404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Alien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577840" y="41330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敵人與 Boss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3730752"/>
            <a:ext cx="1143000" cy="685800"/>
          </a:xfrm>
          <a:prstGeom prst="roundRect">
            <a:avLst>
              <a:gd name="adj" fmla="val 13333"/>
            </a:avLst>
          </a:prstGeom>
          <a:solidFill>
            <a:srgbClr val="13233C"/>
          </a:solidFill>
          <a:ln w="12700">
            <a:solidFill>
              <a:srgbClr val="FF5E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38404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5E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040880" y="41330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敵方子彈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366760" y="3730752"/>
            <a:ext cx="1143000" cy="685800"/>
          </a:xfrm>
          <a:prstGeom prst="roundRect">
            <a:avLst>
              <a:gd name="adj" fmla="val 13333"/>
            </a:avLst>
          </a:prstGeom>
          <a:solidFill>
            <a:srgbClr val="13233C"/>
          </a:solidFill>
          <a:ln w="12700">
            <a:solidFill>
              <a:srgbClr val="65FF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38404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65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PowerUp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03920" y="41330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掉落道具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829800" y="3730752"/>
            <a:ext cx="1143000" cy="685800"/>
          </a:xfrm>
          <a:prstGeom prst="roundRect">
            <a:avLst>
              <a:gd name="adj" fmla="val 13333"/>
            </a:avLst>
          </a:prstGeom>
          <a:solidFill>
            <a:srgbClr val="13233C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966960" y="38404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966960" y="413308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F2F7FF"/>
                </a:solidFill>
              </a:rPr>
              <a:t>玩家碰撞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06440" y="5349240"/>
            <a:ext cx="56692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F7FF"/>
                </a:solidFill>
              </a:rPr>
              <a:t>簡單講：EntityManager 就像「遊戲場上的總管」，負責讓場上的東西動起來、打到、消失或生成。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9555480" y="65196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39C"/>
                </a:solidFill>
              </a:rPr>
              <a:t>Space Invaders Java Classes｜6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C1A2D">
              <a:alpha val="95000"/>
            </a:srgbClr>
          </a:solidFill>
          <a:ln w="12700">
            <a:solidFill>
              <a:srgbClr val="0C1A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2744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玩家與射擊相關 Class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0" y="228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BB1C9"/>
                </a:solidFill>
              </a:rPr>
              <a:t>玩家操作與子彈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1097280"/>
            <a:ext cx="3200400" cy="4434840"/>
          </a:xfrm>
          <a:prstGeom prst="roundRect">
            <a:avLst>
              <a:gd name="adj" fmla="val 2857"/>
            </a:avLst>
          </a:prstGeom>
          <a:solidFill>
            <a:srgbClr val="101D31"/>
          </a:solidFill>
          <a:ln w="15240">
            <a:solidFill>
              <a:srgbClr val="65FF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225296"/>
            <a:ext cx="28712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5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591056"/>
            <a:ext cx="28712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正式玩家飛船類別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029968"/>
            <a:ext cx="2852928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控制移動、射擊與生命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支援 P1 / P2 兩種顏色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可吃攻擊、護盾、補血道具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單人模式可使用 Ultimate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1097280"/>
            <a:ext cx="3200400" cy="4434840"/>
          </a:xfrm>
          <a:prstGeom prst="roundRect">
            <a:avLst>
              <a:gd name="adj" fmla="val 2857"/>
            </a:avLst>
          </a:prstGeom>
          <a:solidFill>
            <a:srgbClr val="101D31"/>
          </a:solidFill>
          <a:ln w="15240">
            <a:solidFill>
              <a:srgbClr val="25D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225296"/>
            <a:ext cx="28712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45152" y="1591056"/>
            <a:ext cx="28712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子彈資料與行為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81728" y="2029968"/>
            <a:ext cx="2852928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保存 x、y、dx、dy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玩家子彈向上，敵人子彈可往下或斜射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getBounds() 提供碰撞框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1097280"/>
            <a:ext cx="3063240" cy="4434840"/>
          </a:xfrm>
          <a:prstGeom prst="roundRect">
            <a:avLst>
              <a:gd name="adj" fmla="val 2985"/>
            </a:avLst>
          </a:prstGeom>
          <a:solidFill>
            <a:srgbClr val="101D31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1225296"/>
            <a:ext cx="273405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Shooter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85632" y="1591056"/>
            <a:ext cx="27340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簡化版飛船類別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22208" y="2029968"/>
            <a:ext cx="2715768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有 x、y、dx、dy 移動邏輯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可設定 X / Y 方向速度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目前像是早期或備用的玩家類別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555480" y="65196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39C"/>
                </a:solidFill>
              </a:rPr>
              <a:t>Space Invaders Java Classes｜7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C1A2D">
              <a:alpha val="95000"/>
            </a:srgbClr>
          </a:solidFill>
          <a:ln w="12700">
            <a:solidFill>
              <a:srgbClr val="0C1A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2744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敵人與道具 Class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0" y="228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BB1C9"/>
                </a:solidFill>
              </a:rPr>
              <a:t>遊戲挑戰與補助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024128"/>
            <a:ext cx="4846320" cy="4800600"/>
          </a:xfrm>
          <a:prstGeom prst="roundRect">
            <a:avLst>
              <a:gd name="adj" fmla="val 1905"/>
            </a:avLst>
          </a:prstGeom>
          <a:solidFill>
            <a:srgbClr val="101D31"/>
          </a:solidFill>
          <a:ln w="15240">
            <a:solidFill>
              <a:srgbClr val="FF5E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152144"/>
            <a:ext cx="451713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5E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1517904"/>
            <a:ext cx="45171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敵人 / Boss / 特殊敵人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1956816"/>
            <a:ext cx="4498848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普通綠色敵人會獨立隨機射擊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Boss 有左右移動與 sin/cos 上下擺動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shielded 敵人會等待後快速下落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draw() 根據類型畫出不同外觀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29400" y="1024128"/>
            <a:ext cx="4846320" cy="4800600"/>
          </a:xfrm>
          <a:prstGeom prst="roundRect">
            <a:avLst>
              <a:gd name="adj" fmla="val 1905"/>
            </a:avLst>
          </a:prstGeom>
          <a:solidFill>
            <a:srgbClr val="101D31"/>
          </a:solidFill>
          <a:ln w="15240">
            <a:solidFill>
              <a:srgbClr val="65FF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1152144"/>
            <a:ext cx="451713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5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PowerUp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93992" y="1517904"/>
            <a:ext cx="45171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玩家可拾取的掉落道具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30568" y="1956816"/>
            <a:ext cx="4498848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TYPE_HEALTH：補血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TYPE_ATTACK：攻擊強化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TYPE_SHIELD：護盾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update() 讓道具往下掉，getBounds() 用於拾取碰撞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40680" y="3383280"/>
            <a:ext cx="1188720" cy="0"/>
          </a:xfrm>
          <a:prstGeom prst="line">
            <a:avLst/>
          </a:prstGeom>
          <a:noFill/>
          <a:ln w="17780">
            <a:solidFill>
              <a:srgbClr val="27445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143000" y="60167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2F7FF"/>
                </a:solidFill>
              </a:rPr>
              <a:t>敵人被擊破後可能產生掉落；玩家碰到道具後，由 Player.applyPowerUp() 套用效果。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555480" y="65196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39C"/>
                </a:solidFill>
              </a:rPr>
              <a:t>Space Invaders Java Classes｜8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C1A2D">
              <a:alpha val="95000"/>
            </a:srgbClr>
          </a:solidFill>
          <a:ln w="12700">
            <a:solidFill>
              <a:srgbClr val="0C1A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2744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畫面、音效與紀錄相關 Class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0" y="228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BB1C9"/>
                </a:solidFill>
              </a:rPr>
              <a:t>輔助系統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2743200" cy="4434840"/>
          </a:xfrm>
          <a:prstGeom prst="roundRect">
            <a:avLst>
              <a:gd name="adj" fmla="val 3333"/>
            </a:avLst>
          </a:prstGeom>
          <a:solidFill>
            <a:srgbClr val="101D31"/>
          </a:solidFill>
          <a:ln w="15240">
            <a:solidFill>
              <a:srgbClr val="25D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225296"/>
            <a:ext cx="24140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GameRenderer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1591056"/>
            <a:ext cx="24140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集中繪製遊戲物件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" y="2029968"/>
            <a:ext cx="2395728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呼叫 Player.draw()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繪製 P1 / P2 子彈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呼叫 EntityManager.draw()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最後疊上 GameUI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56432" y="1097280"/>
            <a:ext cx="2743200" cy="4434840"/>
          </a:xfrm>
          <a:prstGeom prst="roundRect">
            <a:avLst>
              <a:gd name="adj" fmla="val 3333"/>
            </a:avLst>
          </a:prstGeom>
          <a:solidFill>
            <a:srgbClr val="101D31"/>
          </a:solidFill>
          <a:ln w="15240">
            <a:solidFill>
              <a:srgbClr val="65FF9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1225296"/>
            <a:ext cx="24140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65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GameUI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21024" y="1591056"/>
            <a:ext cx="24140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HUD 與狀態畫面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029968"/>
            <a:ext cx="2395728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顯示分數、生命、模式、難度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顯示暫停選單與 Game Over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Classic 模式會畫安全線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1097280"/>
            <a:ext cx="2743200" cy="4434840"/>
          </a:xfrm>
          <a:prstGeom prst="roundRect">
            <a:avLst>
              <a:gd name="adj" fmla="val 3333"/>
            </a:avLst>
          </a:prstGeom>
          <a:solidFill>
            <a:srgbClr val="101D31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225296"/>
            <a:ext cx="241401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SoundPlayer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5392" y="1591056"/>
            <a:ext cx="24140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音效與背景音樂工具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01968" y="2029968"/>
            <a:ext cx="2395728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播放射擊、命中、爆炸、勝負音效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播放 Menu / Battle / Boss 背景音樂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管理 Clip 與停止音樂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45168" y="1097280"/>
            <a:ext cx="2331720" cy="4434840"/>
          </a:xfrm>
          <a:prstGeom prst="roundRect">
            <a:avLst>
              <a:gd name="adj" fmla="val 3922"/>
            </a:avLst>
          </a:prstGeom>
          <a:solidFill>
            <a:srgbClr val="101D31"/>
          </a:solidFill>
          <a:ln w="15240">
            <a:solidFill>
              <a:srgbClr val="FF5E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1225296"/>
            <a:ext cx="2002536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5E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09760" y="1591056"/>
            <a:ext cx="20025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2F7FF"/>
                </a:solidFill>
              </a:rPr>
              <a:t>排行榜資料儲存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46336" y="2029968"/>
            <a:ext cx="1984248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讀寫 leaderboard.txt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保留單人與雙人前 10 名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BB1C9"/>
                </a:solidFill>
              </a:rPr>
              <a:t>• Entry 紀錄分數、模式與時間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555480" y="65196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39C"/>
                </a:solidFill>
              </a:rPr>
              <a:t>Space Invaders Java Classes｜9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C1A2D">
              <a:alpha val="95000"/>
            </a:srgbClr>
          </a:solidFill>
          <a:ln w="12700">
            <a:solidFill>
              <a:srgbClr val="0C1A2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658368"/>
            <a:ext cx="11384280" cy="0"/>
          </a:xfrm>
          <a:prstGeom prst="line">
            <a:avLst/>
          </a:prstGeom>
          <a:noFill/>
          <a:ln w="12700">
            <a:solidFill>
              <a:srgbClr val="2744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F7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Class 功能總整理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94360" y="941832"/>
            <a:ext cx="10972800" cy="438912"/>
          </a:xfrm>
          <a:prstGeom prst="roundRect">
            <a:avLst>
              <a:gd name="adj" fmla="val 16667"/>
            </a:avLst>
          </a:prstGeom>
          <a:solidFill>
            <a:srgbClr val="142944"/>
          </a:solidFill>
          <a:ln w="12700">
            <a:solidFill>
              <a:srgbClr val="2744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069848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5FF9D"/>
                </a:solidFill>
              </a:rPr>
              <a:t>Class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88920" y="106984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5FF9D"/>
                </a:solidFill>
              </a:rPr>
              <a:t>一句話介紹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49240" y="1069848"/>
            <a:ext cx="5852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5FF9D"/>
                </a:solidFill>
              </a:rPr>
              <a:t>主要責任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1481328"/>
            <a:ext cx="10972800" cy="411480"/>
          </a:xfrm>
          <a:prstGeom prst="roundRect">
            <a:avLst>
              <a:gd name="adj" fmla="val 13333"/>
            </a:avLst>
          </a:prstGeom>
          <a:solidFill>
            <a:srgbClr val="101D31"/>
          </a:solidFill>
          <a:ln w="12700">
            <a:solidFill>
              <a:srgbClr val="27445E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60020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SpaceInvadersGame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788920" y="1600200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2F7FF"/>
                </a:solidFill>
              </a:rPr>
              <a:t>程式入口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5349240" y="1600200"/>
            <a:ext cx="5989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BB1C9"/>
                </a:solidFill>
              </a:rPr>
              <a:t>建立 GameFrame 並顯示視窗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94360" y="2011680"/>
            <a:ext cx="10972800" cy="411480"/>
          </a:xfrm>
          <a:prstGeom prst="roundRect">
            <a:avLst>
              <a:gd name="adj" fmla="val 13333"/>
            </a:avLst>
          </a:prstGeom>
          <a:solidFill>
            <a:srgbClr val="0D1A2E"/>
          </a:solidFill>
          <a:ln w="12700">
            <a:solidFill>
              <a:srgbClr val="27445E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13055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GameFrame / MenuPanel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788920" y="2130552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2F7FF"/>
                </a:solidFill>
              </a:rPr>
              <a:t>外層視窗與選單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5349240" y="2130552"/>
            <a:ext cx="5989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BB1C9"/>
                </a:solidFill>
              </a:rPr>
              <a:t>切換主選單、模式、難度與遊戲畫面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94360" y="2542032"/>
            <a:ext cx="10972800" cy="411480"/>
          </a:xfrm>
          <a:prstGeom prst="roundRect">
            <a:avLst>
              <a:gd name="adj" fmla="val 13333"/>
            </a:avLst>
          </a:prstGeom>
          <a:solidFill>
            <a:srgbClr val="101D31"/>
          </a:solidFill>
          <a:ln w="12700">
            <a:solidFill>
              <a:srgbClr val="27445E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266090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GamePanel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788920" y="266090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2F7FF"/>
                </a:solidFill>
              </a:rPr>
              <a:t>遊戲主控制器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349240" y="2660904"/>
            <a:ext cx="5989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BB1C9"/>
                </a:solidFill>
              </a:rPr>
              <a:t>遊戲迴圈、鍵盤、分數、生命、勝敗判定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94360" y="3072384"/>
            <a:ext cx="10972800" cy="411480"/>
          </a:xfrm>
          <a:prstGeom prst="roundRect">
            <a:avLst>
              <a:gd name="adj" fmla="val 13333"/>
            </a:avLst>
          </a:prstGeom>
          <a:solidFill>
            <a:srgbClr val="0D1A2E"/>
          </a:solidFill>
          <a:ln w="12700">
            <a:solidFill>
              <a:srgbClr val="27445E">
                <a:alpha val="5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19125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EntityManager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2788920" y="319125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2F7FF"/>
                </a:solidFill>
              </a:rPr>
              <a:t>物件總管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5349240" y="3191256"/>
            <a:ext cx="5989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BB1C9"/>
                </a:solidFill>
              </a:rPr>
              <a:t>敵人、子彈、道具、碰撞、Boss 與波次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594360" y="3602736"/>
            <a:ext cx="10972800" cy="411480"/>
          </a:xfrm>
          <a:prstGeom prst="roundRect">
            <a:avLst>
              <a:gd name="adj" fmla="val 13333"/>
            </a:avLst>
          </a:prstGeom>
          <a:solidFill>
            <a:srgbClr val="101D31"/>
          </a:solidFill>
          <a:ln w="12700">
            <a:solidFill>
              <a:srgbClr val="27445E">
                <a:alpha val="5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72160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/ Shooter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2788920" y="3721608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2F7FF"/>
                </a:solidFill>
              </a:rPr>
              <a:t>玩家飛船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5349240" y="3721608"/>
            <a:ext cx="5989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BB1C9"/>
                </a:solidFill>
              </a:rPr>
              <a:t>移動、射擊、生命、技能或基本移動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594360" y="4133088"/>
            <a:ext cx="10972800" cy="411480"/>
          </a:xfrm>
          <a:prstGeom prst="roundRect">
            <a:avLst>
              <a:gd name="adj" fmla="val 13333"/>
            </a:avLst>
          </a:prstGeom>
          <a:solidFill>
            <a:srgbClr val="0D1A2E"/>
          </a:solidFill>
          <a:ln w="12700">
            <a:solidFill>
              <a:srgbClr val="27445E">
                <a:alpha val="5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425196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Alien / Bullet / PowerUp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2788920" y="4251960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2F7FF"/>
                </a:solidFill>
              </a:rPr>
              <a:t>遊戲物件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349240" y="4251960"/>
            <a:ext cx="5989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BB1C9"/>
                </a:solidFill>
              </a:rPr>
              <a:t>敵人行為、子彈移動、道具效果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594360" y="4663440"/>
            <a:ext cx="10972800" cy="411480"/>
          </a:xfrm>
          <a:prstGeom prst="roundRect">
            <a:avLst>
              <a:gd name="adj" fmla="val 13333"/>
            </a:avLst>
          </a:prstGeom>
          <a:solidFill>
            <a:srgbClr val="101D31"/>
          </a:solidFill>
          <a:ln w="12700">
            <a:solidFill>
              <a:srgbClr val="27445E">
                <a:alpha val="5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478231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GameRenderer / GameUI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2788920" y="4782312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2F7FF"/>
                </a:solidFill>
              </a:rPr>
              <a:t>畫面呈現</a:t>
            </a:r>
            <a:endParaRPr lang="en-US" sz="1120" dirty="0"/>
          </a:p>
        </p:txBody>
      </p:sp>
      <p:sp>
        <p:nvSpPr>
          <p:cNvPr id="38" name="Text 36"/>
          <p:cNvSpPr/>
          <p:nvPr/>
        </p:nvSpPr>
        <p:spPr>
          <a:xfrm>
            <a:off x="5349240" y="4782312"/>
            <a:ext cx="5989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BB1C9"/>
                </a:solidFill>
              </a:rPr>
              <a:t>繪製物件、HUD、暫停與結束畫面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594360" y="5193792"/>
            <a:ext cx="10972800" cy="411480"/>
          </a:xfrm>
          <a:prstGeom prst="roundRect">
            <a:avLst>
              <a:gd name="adj" fmla="val 13333"/>
            </a:avLst>
          </a:prstGeom>
          <a:solidFill>
            <a:srgbClr val="0D1A2E"/>
          </a:solidFill>
          <a:ln w="12700">
            <a:solidFill>
              <a:srgbClr val="27445E">
                <a:alpha val="5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531266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SoundPlayer / Leaderboard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2788920" y="531266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F2F7FF"/>
                </a:solidFill>
              </a:rPr>
              <a:t>輔助功能</a:t>
            </a:r>
            <a:endParaRPr lang="en-US" sz="1120" dirty="0"/>
          </a:p>
        </p:txBody>
      </p:sp>
      <p:sp>
        <p:nvSpPr>
          <p:cNvPr id="42" name="Text 40"/>
          <p:cNvSpPr/>
          <p:nvPr/>
        </p:nvSpPr>
        <p:spPr>
          <a:xfrm>
            <a:off x="5349240" y="5312664"/>
            <a:ext cx="5989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9BB1C9"/>
                </a:solidFill>
              </a:rPr>
              <a:t>音效背景音樂、排行榜讀寫</a:t>
            </a:r>
            <a:endParaRPr lang="en-US" sz="1120" dirty="0"/>
          </a:p>
        </p:txBody>
      </p:sp>
      <p:sp>
        <p:nvSpPr>
          <p:cNvPr id="44" name="Text 42"/>
          <p:cNvSpPr/>
          <p:nvPr/>
        </p:nvSpPr>
        <p:spPr>
          <a:xfrm>
            <a:off x="9555480" y="65196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E839C"/>
                </a:solidFill>
              </a:rPr>
              <a:t>Space Invaders Java Classes｜10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4449</TotalTime>
  <Words>719</Words>
  <Application>Microsoft Office PowerPoint</Application>
  <PresentationFormat>寬螢幕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Microsoft JhengHei</vt:lpstr>
      <vt:lpstr>Arial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Invaders Class 簡介</dc:title>
  <dc:subject>Space Invaders Java class introduction</dc:subject>
  <dc:creator>OpenAI</dc:creator>
  <cp:lastModifiedBy>修量 吳</cp:lastModifiedBy>
  <cp:revision>2</cp:revision>
  <dcterms:created xsi:type="dcterms:W3CDTF">2026-05-25T15:20:06Z</dcterms:created>
  <dcterms:modified xsi:type="dcterms:W3CDTF">2026-05-29T09:36:28Z</dcterms:modified>
</cp:coreProperties>
</file>